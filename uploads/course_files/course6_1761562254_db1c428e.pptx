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ni6tqTwEYG2rW/ZBvy/W3KcL0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a05d530c6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a05d530c6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-762000" y="1096963"/>
            <a:ext cx="97536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-762000" y="1096963"/>
            <a:ext cx="97536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2212" y="3567809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6a05d530c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412" y="739759"/>
            <a:ext cx="20859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6a05d530c6_0_0"/>
          <p:cNvSpPr txBox="1"/>
          <p:nvPr/>
        </p:nvSpPr>
        <p:spPr>
          <a:xfrm>
            <a:off x="2276575" y="5274300"/>
            <a:ext cx="8144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this Section we will learn about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Our Brand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Our Company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Our Core Values what inspires us to do business everyday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554474" y="7623453"/>
            <a:ext cx="164663" cy="164663"/>
          </a:xfrm>
          <a:prstGeom prst="roundRect">
            <a:avLst>
              <a:gd fmla="val 55526048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327102" y="85989"/>
            <a:ext cx="81531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Introduction to Firefly Diamonds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327102" y="793875"/>
            <a:ext cx="96023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India's premier Lab-grown diamond (LGD) jewellery brand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2"/>
          <p:cNvGrpSpPr/>
          <p:nvPr/>
        </p:nvGrpSpPr>
        <p:grpSpPr>
          <a:xfrm>
            <a:off x="186344" y="1317094"/>
            <a:ext cx="14357306" cy="6842685"/>
            <a:chOff x="3464" y="-1"/>
            <a:chExt cx="14357306" cy="6842685"/>
          </a:xfrm>
        </p:grpSpPr>
        <p:sp>
          <p:nvSpPr>
            <p:cNvPr id="88" name="Google Shape;88;p2"/>
            <p:cNvSpPr/>
            <p:nvPr/>
          </p:nvSpPr>
          <p:spPr>
            <a:xfrm rot="-5400000">
              <a:off x="-1718789" y="1722252"/>
              <a:ext cx="6842685" cy="3398179"/>
            </a:xfrm>
            <a:prstGeom prst="flowChartManualOperation">
              <a:avLst/>
            </a:prstGeom>
            <a:gradFill>
              <a:gsLst>
                <a:gs pos="0">
                  <a:srgbClr val="98B7FF"/>
                </a:gs>
                <a:gs pos="35000">
                  <a:srgbClr val="B9CBFF"/>
                </a:gs>
                <a:gs pos="100000">
                  <a:srgbClr val="E2E9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3464" y="1368536"/>
              <a:ext cx="3398179" cy="4105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6850" spcFirstLastPara="1" rIns="1993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Firefly is a new venture spun off from Prism Jewellery - one of India's largest natural diamond jewellery manufacturers. </a:t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 rot="-5400000">
              <a:off x="1934253" y="1722252"/>
              <a:ext cx="6842685" cy="3398179"/>
            </a:xfrm>
            <a:prstGeom prst="flowChartManualOperation">
              <a:avLst/>
            </a:prstGeom>
            <a:gradFill>
              <a:gsLst>
                <a:gs pos="0">
                  <a:srgbClr val="98B7FF"/>
                </a:gs>
                <a:gs pos="35000">
                  <a:srgbClr val="B9CBFF"/>
                </a:gs>
                <a:gs pos="100000">
                  <a:srgbClr val="E2E9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 txBox="1"/>
            <p:nvPr/>
          </p:nvSpPr>
          <p:spPr>
            <a:xfrm>
              <a:off x="3656506" y="1368536"/>
              <a:ext cx="3398179" cy="4105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6850" spcFirstLastPara="1" rIns="1993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founders of Firefly have been involved in the diamond industry for over 3 generations with over 6 decades worth of experience. </a:t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 rot="-5400000">
              <a:off x="5587295" y="1722252"/>
              <a:ext cx="6842685" cy="3398179"/>
            </a:xfrm>
            <a:prstGeom prst="flowChartManualOperation">
              <a:avLst/>
            </a:prstGeom>
            <a:gradFill>
              <a:gsLst>
                <a:gs pos="0">
                  <a:srgbClr val="98B7FF"/>
                </a:gs>
                <a:gs pos="35000">
                  <a:srgbClr val="B9CBFF"/>
                </a:gs>
                <a:gs pos="100000">
                  <a:srgbClr val="E2E9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7309548" y="1368536"/>
              <a:ext cx="3398179" cy="4105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6850" spcFirstLastPara="1" rIns="1993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Mission Statement: To Democratize access to diamonds, and help turn dreams into a reality for millions of Indians. 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 rot="-5400000">
              <a:off x="9240338" y="1722252"/>
              <a:ext cx="6842685" cy="3398179"/>
            </a:xfrm>
            <a:prstGeom prst="flowChartManualOperation">
              <a:avLst/>
            </a:prstGeom>
            <a:gradFill>
              <a:gsLst>
                <a:gs pos="0">
                  <a:srgbClr val="98B7FF"/>
                </a:gs>
                <a:gs pos="35000">
                  <a:srgbClr val="B9CBFF"/>
                </a:gs>
                <a:gs pos="100000">
                  <a:srgbClr val="E2E9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0962591" y="1368536"/>
              <a:ext cx="3398179" cy="4105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6850" spcFirstLastPara="1" rIns="19935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0" i="0" lang="en-US" sz="3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Move towards a greener and more sustainable future.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26898" y="731746"/>
            <a:ext cx="7315200" cy="363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840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00"/>
              <a:buFont typeface="Raleway"/>
              <a:buNone/>
            </a:pPr>
            <a:r>
              <a:rPr b="0" i="0" lang="en-US" sz="4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Brand Inspiration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15063" r="0" t="0"/>
          <a:stretch/>
        </p:blipFill>
        <p:spPr>
          <a:xfrm>
            <a:off x="9939454" y="-43539"/>
            <a:ext cx="4690946" cy="82842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3"/>
          <p:cNvGrpSpPr/>
          <p:nvPr/>
        </p:nvGrpSpPr>
        <p:grpSpPr>
          <a:xfrm>
            <a:off x="185854" y="1379731"/>
            <a:ext cx="9476306" cy="6118124"/>
            <a:chOff x="0" y="3174"/>
            <a:chExt cx="9753600" cy="6496051"/>
          </a:xfrm>
        </p:grpSpPr>
        <p:cxnSp>
          <p:nvCxnSpPr>
            <p:cNvPr id="103" name="Google Shape;103;p3"/>
            <p:cNvCxnSpPr/>
            <p:nvPr/>
          </p:nvCxnSpPr>
          <p:spPr>
            <a:xfrm>
              <a:off x="0" y="3174"/>
              <a:ext cx="9753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" name="Google Shape;104;p3"/>
            <p:cNvSpPr/>
            <p:nvPr/>
          </p:nvSpPr>
          <p:spPr>
            <a:xfrm>
              <a:off x="0" y="3174"/>
              <a:ext cx="1950720" cy="216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0" y="3174"/>
              <a:ext cx="1950720" cy="216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3939"/>
                </a:buClr>
                <a:buSzPts val="2600"/>
                <a:buFont typeface="Roboto"/>
                <a:buNone/>
              </a:pPr>
              <a:r>
                <a:rPr b="1" i="0" lang="en-US" sz="2600" u="none" cap="none" strike="noStrik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Captivating Glow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7023" y="101503"/>
              <a:ext cx="7656576" cy="196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2097023" y="101503"/>
              <a:ext cx="7656576" cy="196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3939"/>
                </a:buClr>
                <a:buSzPts val="4000"/>
                <a:buFont typeface="Roboto"/>
                <a:buNone/>
              </a:pPr>
              <a:r>
                <a:rPr b="0" i="0" lang="en-US" sz="4000" u="none" cap="none" strike="noStrik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Inspired by fireflies that stand out in darkness, drawing attention and curiosity.</a:t>
              </a:r>
              <a:endPara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" name="Google Shape;108;p3"/>
            <p:cNvCxnSpPr/>
            <p:nvPr/>
          </p:nvCxnSpPr>
          <p:spPr>
            <a:xfrm>
              <a:off x="1950720" y="2068081"/>
              <a:ext cx="780288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BFC8E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" name="Google Shape;109;p3"/>
            <p:cNvCxnSpPr/>
            <p:nvPr/>
          </p:nvCxnSpPr>
          <p:spPr>
            <a:xfrm>
              <a:off x="0" y="2168524"/>
              <a:ext cx="9753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0" name="Google Shape;110;p3"/>
            <p:cNvSpPr/>
            <p:nvPr/>
          </p:nvSpPr>
          <p:spPr>
            <a:xfrm>
              <a:off x="0" y="2168524"/>
              <a:ext cx="1950720" cy="216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2168524"/>
              <a:ext cx="1950720" cy="216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3939"/>
                </a:buClr>
                <a:buSzPts val="2600"/>
                <a:buFont typeface="Roboto"/>
                <a:buNone/>
              </a:pPr>
              <a:r>
                <a:rPr b="1" i="0" lang="en-US" sz="2600" u="none" cap="none" strike="noStrik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Luminous Shine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097023" y="2266853"/>
              <a:ext cx="7656576" cy="196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2097023" y="2266853"/>
              <a:ext cx="7656576" cy="196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3939"/>
                </a:buClr>
                <a:buSzPts val="4000"/>
                <a:buFont typeface="Roboto"/>
                <a:buNone/>
              </a:pPr>
              <a:r>
                <a:rPr b="0" i="0" lang="en-US" sz="4000" u="none" cap="none" strike="noStrik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Each diamond's "fire" mirrors the distinctive allure of fireflies.</a:t>
              </a:r>
              <a:endPara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" name="Google Shape;114;p3"/>
            <p:cNvCxnSpPr/>
            <p:nvPr/>
          </p:nvCxnSpPr>
          <p:spPr>
            <a:xfrm>
              <a:off x="1950720" y="4233431"/>
              <a:ext cx="780288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BFC8E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3"/>
            <p:cNvCxnSpPr/>
            <p:nvPr/>
          </p:nvCxnSpPr>
          <p:spPr>
            <a:xfrm>
              <a:off x="0" y="4333875"/>
              <a:ext cx="9753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6" name="Google Shape;116;p3"/>
            <p:cNvSpPr/>
            <p:nvPr/>
          </p:nvSpPr>
          <p:spPr>
            <a:xfrm>
              <a:off x="0" y="4333875"/>
              <a:ext cx="1950720" cy="216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4333875"/>
              <a:ext cx="1950720" cy="216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3939"/>
                </a:buClr>
                <a:buSzPts val="2600"/>
                <a:buFont typeface="Roboto"/>
                <a:buNone/>
              </a:pPr>
              <a:r>
                <a:rPr b="1" i="0" lang="en-US" sz="2600" u="none" cap="none" strike="noStrik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Timeless Luxury</a:t>
              </a:r>
              <a:endParaRPr b="1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097023" y="4432203"/>
              <a:ext cx="7656576" cy="196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2097023" y="4432203"/>
              <a:ext cx="7656576" cy="196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3939"/>
                </a:buClr>
                <a:buSzPts val="4000"/>
                <a:buFont typeface="Roboto"/>
                <a:buNone/>
              </a:pPr>
              <a:r>
                <a:rPr b="0" i="0" lang="en-US" sz="4000" u="none" cap="none" strike="noStrik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Pieces embody elegance, allowing wearers to stand out gracefully.</a:t>
              </a:r>
              <a:endPara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" name="Google Shape;120;p3"/>
            <p:cNvCxnSpPr/>
            <p:nvPr/>
          </p:nvCxnSpPr>
          <p:spPr>
            <a:xfrm>
              <a:off x="1950720" y="6398781"/>
              <a:ext cx="780288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BFC8E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793790" y="659606"/>
            <a:ext cx="5888831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b="0" i="0" lang="en-US" sz="3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makes Firefly Special?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621155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1428869" y="1589484"/>
            <a:ext cx="242149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Unique product focus on rings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2539" y="1621155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4757618" y="1589484"/>
            <a:ext cx="2421493" cy="1417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Omni-channel strategy focused on first touch point online and then driving customer to store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1288" y="1621155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8086368" y="1589484"/>
            <a:ext cx="2421493" cy="850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Premium brand positioning within LGD industry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0038" y="1621155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11415117" y="1589484"/>
            <a:ext cx="242149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Modernizing jewellery purchase experience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3582948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1428869" y="3551277"/>
            <a:ext cx="2421493" cy="850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Sustainable and Ethical brand and product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22539" y="3582948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4757618" y="3551277"/>
            <a:ext cx="2421493" cy="1417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High-quality craftsmanship leveraging decades of experience making fine jewellery in India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93805" y="5240900"/>
            <a:ext cx="3328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875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00"/>
              <a:buFont typeface="Raleway"/>
              <a:buNone/>
            </a:pPr>
            <a:r>
              <a:rPr b="1" i="0" lang="en-US" sz="3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Mission &amp; Vision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93790" y="5796558"/>
            <a:ext cx="1304282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Democratizing Diamonds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93790" y="6290905"/>
            <a:ext cx="1304282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Making dreams reality for millions of Indians through accessible luxury.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93790" y="6785253"/>
            <a:ext cx="1304282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Sustainable Future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93790" y="7279600"/>
            <a:ext cx="1304282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Moving toward greener practices in the jewelry industry.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5"/>
          <p:cNvGrpSpPr/>
          <p:nvPr/>
        </p:nvGrpSpPr>
        <p:grpSpPr>
          <a:xfrm>
            <a:off x="3486048" y="324677"/>
            <a:ext cx="7658302" cy="7658301"/>
            <a:chOff x="2482438" y="1292"/>
            <a:chExt cx="7658302" cy="7658301"/>
          </a:xfrm>
        </p:grpSpPr>
        <p:sp>
          <p:nvSpPr>
            <p:cNvPr id="151" name="Google Shape;151;p5"/>
            <p:cNvSpPr/>
            <p:nvPr/>
          </p:nvSpPr>
          <p:spPr>
            <a:xfrm>
              <a:off x="3363300" y="882153"/>
              <a:ext cx="5896579" cy="5896579"/>
            </a:xfrm>
            <a:prstGeom prst="blockArc">
              <a:avLst>
                <a:gd fmla="val 10800000" name="adj1"/>
                <a:gd fmla="val 16200000" name="adj2"/>
                <a:gd fmla="val 4636" name="adj3"/>
              </a:avLst>
            </a:prstGeom>
            <a:solidFill>
              <a:srgbClr val="AEB2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363300" y="882153"/>
              <a:ext cx="5896579" cy="5896579"/>
            </a:xfrm>
            <a:prstGeom prst="blockArc">
              <a:avLst>
                <a:gd fmla="val 5400000" name="adj1"/>
                <a:gd fmla="val 10800000" name="adj2"/>
                <a:gd fmla="val 4636" name="adj3"/>
              </a:avLst>
            </a:prstGeom>
            <a:solidFill>
              <a:srgbClr val="AEB2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363300" y="882153"/>
              <a:ext cx="5896579" cy="5896579"/>
            </a:xfrm>
            <a:prstGeom prst="blockArc">
              <a:avLst>
                <a:gd fmla="val 0" name="adj1"/>
                <a:gd fmla="val 5400000" name="adj2"/>
                <a:gd fmla="val 4636" name="adj3"/>
              </a:avLst>
            </a:prstGeom>
            <a:solidFill>
              <a:srgbClr val="AEB2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3363300" y="882153"/>
              <a:ext cx="5896579" cy="5896579"/>
            </a:xfrm>
            <a:prstGeom prst="blockArc">
              <a:avLst>
                <a:gd fmla="val 16200000" name="adj1"/>
                <a:gd fmla="val 0" name="adj2"/>
                <a:gd fmla="val 4636" name="adj3"/>
              </a:avLst>
            </a:prstGeom>
            <a:solidFill>
              <a:srgbClr val="AEB2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955584" y="2474437"/>
              <a:ext cx="2712011" cy="2712011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5352749" y="2871602"/>
              <a:ext cx="1917681" cy="1917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5875" lIns="55875" spcFirstLastPara="1" rIns="55875" wrap="square" tIns="5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Tahoma"/>
                <a:buNone/>
              </a:pPr>
              <a:r>
                <a:rPr b="0" i="0" lang="en-US" sz="4400" u="none" cap="none" strike="noStrik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Our Values</a:t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362386" y="1292"/>
              <a:ext cx="1898407" cy="189840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5640401" y="279307"/>
              <a:ext cx="1342377" cy="1342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Trust</a:t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242333" y="2881239"/>
              <a:ext cx="1898407" cy="189840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8520348" y="3159254"/>
              <a:ext cx="1342377" cy="1342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Excellence</a:t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5362386" y="5761186"/>
              <a:ext cx="1898407" cy="189840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5640401" y="6039201"/>
              <a:ext cx="1342377" cy="1342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Innovation</a:t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482438" y="2881239"/>
              <a:ext cx="1898407" cy="1898407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2760453" y="3159254"/>
              <a:ext cx="1342377" cy="1342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Customer Delight</a:t>
              </a:r>
              <a:endParaRPr/>
            </a:p>
          </p:txBody>
        </p:sp>
      </p:grpSp>
      <p:pic>
        <p:nvPicPr>
          <p:cNvPr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771049" y="605909"/>
            <a:ext cx="4681299" cy="585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650"/>
              <a:buFont typeface="Raleway"/>
              <a:buNone/>
            </a:pPr>
            <a:r>
              <a:rPr b="1" i="0" lang="en-US" sz="36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Brand Values: Trust</a:t>
            </a:r>
            <a:endParaRPr b="1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59367" y="1772661"/>
            <a:ext cx="6315789" cy="1168837"/>
          </a:xfrm>
          <a:prstGeom prst="roundRect">
            <a:avLst>
              <a:gd fmla="val 672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54153" y="1967448"/>
            <a:ext cx="2340650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Transparency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54153" y="2447150"/>
            <a:ext cx="5926217" cy="29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Clear, honest communication throughout all processes.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59367" y="3128664"/>
            <a:ext cx="6315789" cy="1168837"/>
          </a:xfrm>
          <a:prstGeom prst="roundRect">
            <a:avLst>
              <a:gd fmla="val 672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54153" y="3323450"/>
            <a:ext cx="2340650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54153" y="3803153"/>
            <a:ext cx="5926217" cy="29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Uncompromising standards in craftsmanship and materials.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59367" y="4484667"/>
            <a:ext cx="6315789" cy="1168837"/>
          </a:xfrm>
          <a:prstGeom prst="roundRect">
            <a:avLst>
              <a:gd fmla="val 672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54153" y="4679453"/>
            <a:ext cx="2340650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Social Responsibility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54153" y="5159156"/>
            <a:ext cx="5926217" cy="29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Active engagement in community initiatives.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59367" y="5840670"/>
            <a:ext cx="6315789" cy="1168837"/>
          </a:xfrm>
          <a:prstGeom prst="roundRect">
            <a:avLst>
              <a:gd fmla="val 672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54153" y="6035456"/>
            <a:ext cx="2340650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Ethical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54153" y="6515159"/>
            <a:ext cx="5926217" cy="29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Prioritizing ethical sourcing and production methods.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049" y="7340679"/>
            <a:ext cx="222290" cy="28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793790" y="751999"/>
            <a:ext cx="4171474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00"/>
              <a:buFont typeface="Raleway"/>
              <a:buNone/>
            </a:pPr>
            <a:r>
              <a:rPr b="1" i="0" lang="en-US" sz="29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Brand Values: Innovation</a:t>
            </a:r>
            <a:endParaRPr b="1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93790" y="2531357"/>
            <a:ext cx="2173724" cy="849273"/>
          </a:xfrm>
          <a:prstGeom prst="roundRect">
            <a:avLst>
              <a:gd fmla="val 729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7008" y="2826394"/>
            <a:ext cx="207288" cy="25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3114913" y="2678757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Creative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114913" y="2997487"/>
            <a:ext cx="3267908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Inspiring designs that challenge traditional norms.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041213" y="3376819"/>
            <a:ext cx="8547855" cy="45719"/>
          </a:xfrm>
          <a:prstGeom prst="roundRect">
            <a:avLst>
              <a:gd fmla="val 8126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93790" y="3454330"/>
            <a:ext cx="4347567" cy="849273"/>
          </a:xfrm>
          <a:prstGeom prst="roundRect">
            <a:avLst>
              <a:gd fmla="val 729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3929" y="3749367"/>
            <a:ext cx="207288" cy="25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5288756" y="3601729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Sustainable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288756" y="3920460"/>
            <a:ext cx="3850005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Eco-conscious practices minimizing environmental impact.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 flipH="1" rot="10800000">
            <a:off x="5215057" y="4254074"/>
            <a:ext cx="6521410" cy="45719"/>
          </a:xfrm>
          <a:prstGeom prst="roundRect">
            <a:avLst>
              <a:gd fmla="val 8126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93790" y="4377302"/>
            <a:ext cx="6521410" cy="849273"/>
          </a:xfrm>
          <a:prstGeom prst="roundRect">
            <a:avLst>
              <a:gd fmla="val 729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0851" y="4672339"/>
            <a:ext cx="207288" cy="259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7462599" y="4524702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Progressive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462599" y="4843432"/>
            <a:ext cx="3789045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Embracing contemporary trends with a youthful approach.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6280190" y="851654"/>
            <a:ext cx="657867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Brand Values: Excellence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280190" y="215574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19825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7017306" y="2155746"/>
            <a:ext cx="413611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Standard Operating Procedures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017306" y="2646164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Ensuring consistency, quality, and reliability in all operations.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280190" y="349103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353353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7017306" y="34910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Product Excellence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017306" y="3981450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Exquisite lab-grown diamond creations reflecting timeless elegance.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280190" y="5189220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523172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7017306" y="51892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Quality Standards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017306" y="567963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Uncompromising attention to flawless craftsmanship and brilliance.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280190" y="652450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5260" y="656701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7017306" y="6524506"/>
            <a:ext cx="28671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Artisan Craftsmanship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017306" y="7014924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Meticulously handcrafted pieces embodying sophistication.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Customer Delight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743789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In-store Experience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93790" y="4578310"/>
            <a:ext cx="3785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Luxurious, personalized shopping journey.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0033" y="4496633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9597628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After Sales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597628" y="3351967"/>
            <a:ext cx="423898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Lifetime warranties and hassle-free exchanges.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3230" y="3478649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9597628" y="5314117"/>
            <a:ext cx="28648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Customer Satisfaction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597628" y="5804535"/>
            <a:ext cx="423898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Ongoing support ensuring loyalty and delight.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3230" y="5514618"/>
            <a:ext cx="318968" cy="39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61139" y="255897"/>
            <a:ext cx="20859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2025-04-03T04:25:17Z</dcterms:created>
  <dc:creator>PptxGenJS</dc:creator>
</cp:coreProperties>
</file>